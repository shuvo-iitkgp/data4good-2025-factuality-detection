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7" r:id="rId10"/>
    <p:sldId id="266" r:id="rId11"/>
    <p:sldId id="268" r:id="rId12"/>
    <p:sldId id="270" r:id="rId13"/>
    <p:sldId id="271" r:id="rId14"/>
    <p:sldId id="290" r:id="rId15"/>
    <p:sldId id="291" r:id="rId16"/>
    <p:sldId id="269" r:id="rId17"/>
    <p:sldId id="272" r:id="rId18"/>
    <p:sldId id="274" r:id="rId19"/>
    <p:sldId id="273" r:id="rId20"/>
    <p:sldId id="279" r:id="rId21"/>
    <p:sldId id="275" r:id="rId22"/>
    <p:sldId id="277" r:id="rId23"/>
    <p:sldId id="280" r:id="rId24"/>
    <p:sldId id="278" r:id="rId25"/>
    <p:sldId id="281" r:id="rId26"/>
    <p:sldId id="282" r:id="rId27"/>
    <p:sldId id="283" r:id="rId28"/>
    <p:sldId id="286" r:id="rId29"/>
    <p:sldId id="288" r:id="rId30"/>
    <p:sldId id="285" r:id="rId31"/>
    <p:sldId id="289" r:id="rId32"/>
    <p:sldId id="260" r:id="rId33"/>
    <p:sldId id="287" r:id="rId34"/>
    <p:sldId id="276" r:id="rId35"/>
    <p:sldId id="28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81E26-386B-4DB0-ACDC-37083FCB05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F5D6A-2827-4593-B23A-7B7F1BF4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8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43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in train set, 2 in test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88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B0CD-7846-13B2-E300-4ADB2F06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2AA92-F951-15EA-BCE1-33743099E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AA8A9-CAC4-6D3D-6325-4CE1A94F3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CB378-0DA6-4C56-EFD0-7F5D9D38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11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46139-3683-E547-8C2C-A67B84D8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2D1A1-E34D-100C-FF3E-1524B3085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40A5-A417-3148-7D20-58776CFE9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a neat separation between the irrelevant and factual responses, but the similarity scores of the contradictions span a wide range of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A8784-AFFD-235A-4001-F2745E54A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90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0DB64-D9F8-C7AB-0E4D-30DE29E2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DE242-E825-A752-8F28-DFED3A606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F13B5-3004-D10B-F7B6-403C26C9A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a neat separation between the irrelevant and factual responses, but the similarity scores of the contradictions span a wide range of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DD069-8076-19A1-5EF8-7C00E800D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49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D7A-1AC1-0903-3BE0-A39A8A64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8B0B4-C982-E333-7922-F4F1221AC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D009E-B9B0-880D-F628-059F494D4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a neat separation between the irrelevant and factual responses, but the similarity scores of the contradictions span a wide range of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06E4B-F6BA-29AA-E843-954E496C9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5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43FA-B155-1515-8CF5-5F861F4F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C7658-859B-D676-F5BF-ABEB31B64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273D4-DAD6-54B3-5B98-29269D06E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BC01E-2DA4-3280-F43A-7B2614553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39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D4E2-A4B1-0CAE-BD43-632D9000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A88B9-84B6-3D99-BBFF-FB12B421C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69569-E1A1-9401-D4F7-3AD096B5D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28EAA-7BD5-35B7-A425-9A1AF5485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85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9B23-6223-98A7-EF26-B79146FE3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CA439-59BC-747E-B1B6-8C9DB3AB2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8F9B7-9720-A2CD-170B-1C579B1DD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85AE9-B0A1-E2D8-103B-6E78CBFB2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45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B316-EA62-17D9-D5B3-5D88F3210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788FD-D8D7-BFC5-743A-29F5B32F1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7A70D-64B8-01E6-CF9E-B8A602C36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DADBE-5A04-A457-4030-F98203812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80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20C4D-0B73-C612-D704-8FB75C5F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ED8DA-7E09-FB8C-110A-8DFB23F74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C575B-EFC1-FEBB-5A86-3FA0EB5D9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7A5C-0FE1-C44D-4943-7097296A5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09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5C1B9-7E23-7F6D-B354-A401A63B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1AEF6-9570-74AF-06DD-05579C5AC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D8797-AC8A-D03F-162E-C1FD68BED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DABFB-120F-046F-7024-CE30277EF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05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D7C56-E5AD-06E4-2CE1-886D662F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7B6B8-AB5C-BA6F-6366-F3DA49BF3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592D6-8F1A-7F94-BC18-254C26CDE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1F74D-12C9-94E2-15B4-7A0D8CBF0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499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A338-D280-032D-9009-1F2430EB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020C2-5351-1F35-9B01-952948144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89937-7F28-720E-6EDB-DDA14DA6C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A194C-BADE-5851-D0CC-9BB8B3664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58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F7B5-FA97-D271-1955-668CB2F1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3E9A-BD92-14E4-6F2D-BE7736F03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67B68-3735-6BAE-6E35-7D5BC8E91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E6BD1-5133-BC72-456F-B5C3B4C3F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96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7E199-6072-2BD9-25A9-EA2867DAB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3459F-E7AF-0006-8BB3-41314ADDC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0AE61-08B3-DADA-FBA1-3527AFEF5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8A2F1-4D77-BC97-0788-347AF3404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42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1198D-56AB-D552-3504-8D643F27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D0DD1-07D3-9948-58C3-103086481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A7BA1-B4C5-36D1-3712-2DDCA0268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47596-9644-DB1C-F2E7-50B1357CC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863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FA99D-924E-A595-2460-D717C05D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58193-D04A-7777-CFAD-C89615086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7F3B9-AB2C-C77D-E70F-57A3865D0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B6EA2-8524-39CF-11F1-F593C7173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96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19A64-0B67-695E-C859-6ABBFB280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AB468-11C2-CBE0-8E5D-CCB768C89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6D529-EA72-D209-84E2-843351F16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5D874-E4C5-BE76-B26E-E730AB529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836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C7E8F-1FDE-DD1F-0508-12101F0B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FE02F-10E0-15C9-68C1-CC7116E45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F51DF-A5D9-9CD8-2C0A-8C3160443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2E986-1A17-09DD-01E2-C9B3AC343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81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CA0D-4931-B522-86D4-B8733EB9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EE183-770C-D502-0218-99E99F3A4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886B0-9B0D-B8F0-C65F-0C0E7E7DF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5A08F-2B36-7641-CD02-C18F5674F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568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9721-2900-3379-36BB-9370E8C7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C7BB9-6DA2-30C0-3B13-4476BC34F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91843-3F08-BFDD-BE4E-05081985A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6CAD3-9F5E-0804-4661-87AE96493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2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21AA-7436-62B9-F8B6-DD593EE34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9ED48-C220-AB08-EDB5-470BD6096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971B9-7712-87C0-22FC-8AFC1D8C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5BFEF-FAAF-DB4E-C7B3-89D50084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3DE78-2F9A-AE3A-359D-BB94526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0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06E3-6E3F-3F04-9564-11DC3A9D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32FB3-5FA6-F5E6-5AAA-8A03982F4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E0CE-DEF7-E5D7-5C22-F4AAF0D3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E7978-C2A4-036C-F38B-6E8A12F01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93A1-5E34-EA63-391F-AF0B7376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13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7C88-A9C2-EB1B-A0C4-E69000AA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25C65-995A-14DC-A6B1-A475A8860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3B0B4-FF24-4789-1BBB-057637FB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D1B28-BF9E-98DE-0A3A-E1A4D587D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19507-E462-8BBA-A7EE-5328DDE5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43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8985-7BCC-7477-6FED-7B59C9FB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31EF4-D27B-A1FA-1073-961503BA6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F0943-6C2B-B662-228C-803B1AEAD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E46CE-BACA-EDBF-3F6D-0A3926AB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608D-CA8E-8967-BB81-91EA88004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F34CE-420E-35E5-3539-F747BB5E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0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B9A1-DD0B-5F21-4787-EB8AA142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DA798-535F-2D9B-5ECE-9745A6A37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0C95C-D531-F82D-62D7-F8AF161B5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491F9-CE2B-891B-32F4-B86619751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9DC202-9A56-230E-C8D3-F529EEE11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C7B78-0ED4-1382-A96C-C9555147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03563-C41E-EEF8-6870-77388331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1AA55-9811-9731-E519-F9B17CD2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8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28C1-F280-C9F4-40FA-638F89C6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840F7-45FC-7618-EE3E-907B61E2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7A63D-AACC-B773-7CED-6128AE60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D756D-C4AE-A9ED-CA39-56D973C7E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0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13570-E5BE-ADF3-0A2D-E34151CE6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828ED-4355-C305-B9A5-730997BD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24727-CFF1-3C35-DE10-FD37222B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3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CE81-CD22-8307-3E9A-3DF9F3EE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04602-CDFD-49BE-4EDB-61973473A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89747-13C5-6104-09BD-68C7611C1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562B6-76B5-86FC-DC79-F30F706D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079AB-5899-376B-3D25-8BB871DA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7CF70-AA73-00E6-5F36-F3FC7AED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4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EF0B-A170-7CEC-45FA-0D90F0BF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8106BB-5E4D-D35E-9F38-6A9B3E038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3CD6F-23FC-5505-1850-2094F98D4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0F76E-1708-4E66-FF30-5F12D319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0BE00-D0B6-BB67-F180-A28B64D0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A4CA8-A74A-090C-2D45-762BFADC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1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4008-E042-A23B-BAA7-53B72B9A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D2364-F88B-831B-8475-479888252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84006-6C03-647D-229C-6D44E157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AED1-5B18-62A0-BB4B-724C2919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3E050-4BED-16C3-2F8D-68D8418EB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0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49751-E469-E99C-ED1C-3DDC64A75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8A865-8D35-40C3-F647-EA8642DA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78223-251F-3271-1812-3AEB7FEE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5EAA9-426E-814F-801B-6685D359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D1770-E226-1A4E-836A-147D5285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9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6905C-1674-1A2B-3584-8F64EF8EB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4BD-0A0F-BDD3-39F0-6DE938F0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0BBD7-D2F4-610C-C21F-3C585E7DA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692A9-7311-4AE2-9B4F-D8A624FB3C9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07D04-3870-F1B8-B7A4-CAD3AFC07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C8EE7-D9EE-0AED-B9D1-94E6A7143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2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44688-83CD-0DFB-E1A6-362DA72F0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810" y="1498494"/>
            <a:ext cx="9078628" cy="3081242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Building Trust in Educational AI through Factuality Verification​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609AF-55F7-9747-C81A-E4A1A02C7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3973656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Data Jackets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786815-86C4-FACB-9C47-10BDE7841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287" b="62642" l="31292" r="69375">
                        <a14:foregroundMark x1="51458" y1="38287" x2="51458" y2="38287"/>
                        <a14:foregroundMark x1="31333" y1="47575" x2="31333" y2="47575"/>
                        <a14:foregroundMark x1="35542" y1="52838" x2="35542" y2="52838"/>
                        <a14:foregroundMark x1="40083" y1="49432" x2="40083" y2="49432"/>
                        <a14:foregroundMark x1="42750" y1="50671" x2="42750" y2="50671"/>
                        <a14:foregroundMark x1="56000" y1="60372" x2="56000" y2="60372"/>
                        <a14:foregroundMark x1="57375" y1="51084" x2="57375" y2="51084"/>
                        <a14:foregroundMark x1="59083" y1="51084" x2="59083" y2="51084"/>
                        <a14:foregroundMark x1="63000" y1="50671" x2="63000" y2="50671"/>
                        <a14:foregroundMark x1="66792" y1="49845" x2="66792" y2="49845"/>
                        <a14:foregroundMark x1="68917" y1="52012" x2="68917" y2="52012"/>
                        <a14:foregroundMark x1="69375" y1="48297" x2="69375" y2="48297"/>
                        <a14:backgroundMark x1="49875" y1="50671" x2="49875" y2="506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03" t="35783" r="29416" b="34179"/>
          <a:stretch>
            <a:fillRect/>
          </a:stretch>
        </p:blipFill>
        <p:spPr bwMode="auto">
          <a:xfrm>
            <a:off x="5290720" y="4619737"/>
            <a:ext cx="1605617" cy="467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17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87C882-C4DE-5E0A-1A61-FC2B9DC3A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1" y="3271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DA2FB-E303-AD6D-D92D-F00C141DF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51" y="1917937"/>
            <a:ext cx="9724031" cy="3683358"/>
          </a:xfrm>
        </p:spPr>
        <p:txBody>
          <a:bodyPr anchor="ctr">
            <a:normAutofit/>
          </a:bodyPr>
          <a:lstStyle/>
          <a:p>
            <a:pPr fontAlgn="base"/>
            <a:r>
              <a:rPr lang="en-US" dirty="0"/>
              <a:t>Testing</a:t>
            </a:r>
            <a:endParaRPr lang="en-US" sz="2000" b="0" i="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972F5-5984-2F9F-94B4-E4A42EFBF30E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03734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7E5A6-BD42-B6A9-13BA-79B509F5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12AFF2D-9B27-65BF-0621-045460903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C728A3-BE37-9C3F-5256-9B4891539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81DD15-8DA5-325E-FAC8-816C1EEDC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011C5-19B7-A9A6-91A7-B262BCE13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AAF497-6774-1E71-F97C-5DB2376F1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A0C03-6A73-3642-4C7A-D6560BE7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F1BD5-57D3-7A0C-9231-188B3441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22" y="2044937"/>
            <a:ext cx="11686245" cy="3568463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400" b="1" dirty="0"/>
              <a:t>LLM hallucinations affect user trust and adoption of educational AI tools.​</a:t>
            </a:r>
          </a:p>
          <a:p>
            <a:pPr marL="0" indent="0" fontAlgn="base">
              <a:lnSpc>
                <a:spcPct val="120000"/>
              </a:lnSpc>
              <a:buNone/>
            </a:pPr>
            <a:endParaRPr lang="en-US" sz="2400" b="0" i="0" dirty="0">
              <a:effectLst/>
            </a:endParaRPr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Supporting Data:​</a:t>
            </a:r>
            <a:endParaRPr lang="en-US" sz="2400" b="0" i="0" dirty="0">
              <a:effectLst/>
            </a:endParaRPr>
          </a:p>
          <a:p>
            <a:pPr fontAlgn="base">
              <a:lnSpc>
                <a:spcPct val="120000"/>
              </a:lnSpc>
            </a:pPr>
            <a:r>
              <a:rPr lang="en-US" sz="2400" dirty="0"/>
              <a:t>Strong negative sentiments associated with hallucinations</a:t>
            </a:r>
            <a:r>
              <a:rPr lang="en-US" sz="2400" baseline="30000" dirty="0"/>
              <a:t> [1]​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More than 50% of surveyed students are concerned </a:t>
            </a:r>
            <a:r>
              <a:rPr lang="en-US" sz="2400" baseline="30000" dirty="0"/>
              <a:t>[2]​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People becoming more cautious and selective in using AI </a:t>
            </a:r>
            <a:r>
              <a:rPr lang="en-US" sz="2400" baseline="30000" dirty="0"/>
              <a:t>[3]​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1D102-C7A0-5D2A-33A9-4326F4211C63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6A2152-BBC3-1862-822F-4E4FD7A4990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1. Business Problem Framing</a:t>
            </a:r>
          </a:p>
        </p:txBody>
      </p:sp>
    </p:spTree>
    <p:extLst>
      <p:ext uri="{BB962C8B-B14F-4D97-AF65-F5344CB8AC3E}">
        <p14:creationId xmlns:p14="http://schemas.microsoft.com/office/powerpoint/2010/main" val="178364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3B9A6-4573-1B9B-B92E-25C2D692C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B3DD76-49C2-459E-282A-90674F517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B1D94A-34CC-0F5D-9616-1910455EB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E814BB-E9AB-C5B2-DF95-207964886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B0E7B9-871B-8242-CC0B-8B020A2AC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F2F24-53F7-91EF-346B-079698F5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D4C6-3650-3996-3EB4-6E4380D462EE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44F868-0030-83A6-72DF-3ACA9FF9D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797453"/>
              </p:ext>
            </p:extLst>
          </p:nvPr>
        </p:nvGraphicFramePr>
        <p:xfrm>
          <a:off x="459350" y="2210849"/>
          <a:ext cx="11203484" cy="3364451"/>
        </p:xfrm>
        <a:graphic>
          <a:graphicData uri="http://schemas.openxmlformats.org/drawingml/2006/table">
            <a:tbl>
              <a:tblPr/>
              <a:tblGrid>
                <a:gridCol w="2042550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4580467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4580467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</a:tblGrid>
              <a:tr h="629099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Stakeholder​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Primary Concern​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Secondary Concerns​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79924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Students​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Reliable responses </a:t>
                      </a:r>
                      <a:r>
                        <a:rPr lang="en-US" sz="2400" b="0" i="0" baseline="300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[4]​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Price and speed​ </a:t>
                      </a:r>
                      <a:r>
                        <a:rPr lang="en-US" sz="2400" b="0" i="0" baseline="300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[7]​</a:t>
                      </a: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endParaRPr lang="en-US" sz="24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79924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Educators​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Limiting misinformation </a:t>
                      </a:r>
                      <a:r>
                        <a:rPr lang="en-US" sz="2400" b="0" i="0" baseline="300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[5]​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Product accessibility​ </a:t>
                      </a:r>
                      <a:r>
                        <a:rPr lang="en-US" sz="2400" b="0" i="0" baseline="300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[8]</a:t>
                      </a:r>
                      <a:endParaRPr lang="en-US" sz="24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1136866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Platforms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Reputational risk </a:t>
                      </a:r>
                      <a:r>
                        <a:rPr lang="en-US" sz="2400" b="0" i="0" baseline="300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[6]​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Product competitiveness </a:t>
                      </a:r>
                      <a:r>
                        <a:rPr lang="en-US" sz="2400" b="0" i="0" baseline="300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[9]</a:t>
                      </a:r>
                      <a:endParaRPr lang="en-US" sz="24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90CE9C96-4309-508E-15E2-279E070E8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2579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53D9AD5-2964-B0AA-21A7-0EF4DFB93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Stakeholder Analysis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109428-AA79-A167-5D43-8B77BCBC391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1. Business Problem Framing</a:t>
            </a:r>
          </a:p>
        </p:txBody>
      </p:sp>
    </p:spTree>
    <p:extLst>
      <p:ext uri="{BB962C8B-B14F-4D97-AF65-F5344CB8AC3E}">
        <p14:creationId xmlns:p14="http://schemas.microsoft.com/office/powerpoint/2010/main" val="3874369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E5DC7-72AC-718C-8EA5-83D99DB3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F6B3266-A30E-4DF5-7366-653C898F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6ED7C-6AA7-0816-961F-A2BAFDE43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C8A669-B6AB-0784-8199-ABE4D919D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53D2C0-24CB-5BD2-B12C-21086669C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4AB125-1B8F-6948-9B87-12269C7D1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0915B-4238-9ED7-FB26-259D0E6CE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403AD-199E-392A-EAAC-743742C4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22" y="2044937"/>
            <a:ext cx="11686245" cy="3568463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How can we </a:t>
            </a:r>
            <a:r>
              <a:rPr lang="en-US" sz="2400" b="1" dirty="0"/>
              <a:t>increase user trust </a:t>
            </a:r>
            <a:r>
              <a:rPr lang="en-US" sz="2400" dirty="0"/>
              <a:t>in educational AI tools</a:t>
            </a:r>
            <a:r>
              <a:rPr lang="en-US" sz="2400" b="1" dirty="0"/>
              <a:t> by accurately, quickly and cost-effectively identifying erroneous/ irrelevant (“hallucinated”) LLM responses </a:t>
            </a:r>
            <a:r>
              <a:rPr lang="en-US" sz="2400" dirty="0"/>
              <a:t>within the next two months?</a:t>
            </a:r>
          </a:p>
          <a:p>
            <a:pPr marL="0" indent="0" fontAlgn="base">
              <a:lnSpc>
                <a:spcPct val="120000"/>
              </a:lnSpc>
              <a:buNone/>
            </a:pPr>
            <a:endParaRPr lang="en-US" sz="2400" b="0" i="0" dirty="0">
              <a:effectLst/>
            </a:endParaRPr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Primary Metric: Accuracy</a:t>
            </a:r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Secondary Metric: Cost and Speed</a:t>
            </a:r>
          </a:p>
          <a:p>
            <a:pPr marL="0" indent="0" fontAlgn="base">
              <a:lnSpc>
                <a:spcPct val="120000"/>
              </a:lnSpc>
              <a:buNone/>
            </a:pPr>
            <a:endParaRPr lang="en-US" sz="2400" baseline="30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BCE95-B58A-7B1F-89D3-846D741DAE3C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F9B1D8-6E5F-D641-B917-97A00058456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1. Business Problem Framing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7110A-5A9D-7E53-0A94-770DC25A25C8}"/>
              </a:ext>
            </a:extLst>
          </p:cNvPr>
          <p:cNvSpPr/>
          <p:nvPr/>
        </p:nvSpPr>
        <p:spPr>
          <a:xfrm>
            <a:off x="371927" y="1993900"/>
            <a:ext cx="11420151" cy="1548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9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4DE0C-C309-51AA-E7A3-A7E6F7EFF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ACAAB2-A0A8-2F22-CAD2-77676243F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A95697-1E52-FB88-0A4C-D987FBF6A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CA217E-2B10-74FB-09E5-89A68400D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B2BEA-CE8B-6F82-AF4D-9972BE02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243D17-A575-300C-04A6-FE8913323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99AAB-DA98-6EB1-5697-EC81FE99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Analytics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39DD6-E639-4D1C-58B5-5CDF64B0CB19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C65C55-232D-3E21-4869-414BF2BB9CA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2. Analytics Problem Framing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EC5423-A499-0B4D-CB31-2C625B444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447201"/>
              </p:ext>
            </p:extLst>
          </p:nvPr>
        </p:nvGraphicFramePr>
        <p:xfrm>
          <a:off x="459350" y="1917700"/>
          <a:ext cx="10513450" cy="4384505"/>
        </p:xfrm>
        <a:graphic>
          <a:graphicData uri="http://schemas.openxmlformats.org/drawingml/2006/table">
            <a:tbl>
              <a:tblPr/>
              <a:tblGrid>
                <a:gridCol w="2969650">
                  <a:extLst>
                    <a:ext uri="{9D8B030D-6E8A-4147-A177-3AD203B41FA5}">
                      <a16:colId xmlns:a16="http://schemas.microsoft.com/office/drawing/2014/main" val="2953549794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4127694699"/>
                    </a:ext>
                  </a:extLst>
                </a:gridCol>
              </a:tblGrid>
              <a:tr h="51018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Inputs: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Question + Context + Answer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615979"/>
                  </a:ext>
                </a:extLst>
              </a:tr>
              <a:tr h="51018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Output:​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 (factual/ contradiction/ irrelevant)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289217"/>
                  </a:ext>
                </a:extLst>
              </a:tr>
              <a:tr h="953586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Analytics Problem: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Predictive Problem </a:t>
                      </a:r>
                    </a:p>
                    <a:p>
                      <a:pPr marL="0" indent="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 Classification based on Factuality and Relevance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631663"/>
                  </a:ext>
                </a:extLst>
              </a:tr>
              <a:tr h="950185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Assumptions: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 is relevant to the question.​</a:t>
                      </a:r>
                    </a:p>
                    <a:p>
                      <a:pPr marL="342900" indent="-34290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question has an answer.​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855826"/>
                  </a:ext>
                </a:extLst>
              </a:tr>
              <a:tr h="950185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Constraints: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time, compute resources​</a:t>
                      </a:r>
                    </a:p>
                    <a:p>
                      <a:pPr marL="342900" indent="-34290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Zero financial expenditure​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056718"/>
                  </a:ext>
                </a:extLst>
              </a:tr>
              <a:tr h="51018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Risk Mitigation: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imbalance → Balanced accuracy​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43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92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10047-2ACD-7292-D0CC-9BA89C4D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6A8DA37-D6BF-A119-91D8-6B8E2FAF2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40D63-4C63-64A4-0078-37117E2E4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D40E56-B0B9-DBED-171C-F9FF502D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DEB1BE-43A0-F7D7-B22A-B6C406BA7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110D11-CCF9-74FE-1A6D-4C0597976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BDE6F-F24A-E8AF-F8B3-FBA5CFCFC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Metrics and Goals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E03AF-26EB-5600-CE9A-DE16114F96D3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6AB63F-4327-E9D4-961B-3E31816A3B5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2. Analytics Problem Framing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196958-EFC5-0DEC-69EE-93D33B117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813641"/>
              </p:ext>
            </p:extLst>
          </p:nvPr>
        </p:nvGraphicFramePr>
        <p:xfrm>
          <a:off x="494255" y="3429000"/>
          <a:ext cx="11203486" cy="2690039"/>
        </p:xfrm>
        <a:graphic>
          <a:graphicData uri="http://schemas.openxmlformats.org/drawingml/2006/table">
            <a:tbl>
              <a:tblPr/>
              <a:tblGrid>
                <a:gridCol w="2147344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261079012"/>
                    </a:ext>
                  </a:extLst>
                </a:gridCol>
              </a:tblGrid>
              <a:tr h="50252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endParaRPr lang="en-US" sz="24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Balanced Accuracy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 Time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 Cost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33.3%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0ms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0ms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Target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95.0%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Stretch Goal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99.5%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008B5D-ACD1-A0BE-8CB6-3D9C4A76C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22" y="1994137"/>
            <a:ext cx="11686245" cy="1244363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/>
              <a:t>Primary Metric: Balanced Accuracy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Secondary Metrics: Average Time and Cost per Row</a:t>
            </a:r>
          </a:p>
        </p:txBody>
      </p:sp>
    </p:spTree>
    <p:extLst>
      <p:ext uri="{BB962C8B-B14F-4D97-AF65-F5344CB8AC3E}">
        <p14:creationId xmlns:p14="http://schemas.microsoft.com/office/powerpoint/2010/main" val="291068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05FE2-8FAE-8FA8-943C-E375EB0D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1BEC87-1E47-983D-9CEA-0D5E056F0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F5851-02EB-0B18-537A-425B181F5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34D7DB-7B04-62D7-873E-42BA06C3F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139296-B352-E13D-3F8E-EC74DF688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0A7222-3734-1D6A-D5FC-E9D1F2F6A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C9CAE-2B77-6A01-C2BF-F23F9A32C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Overview of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CF26D-FD34-8BDA-9CD1-B216F60199C7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7DC781-5432-6DC3-13DA-6EB9613E1B45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3. Data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E522FD-DEA5-ADE7-091F-97921CE52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24" y="2044937"/>
            <a:ext cx="4404910" cy="3581163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/>
              <a:t>21,021 training samples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2,000 held-out test samples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No ethical issues involved</a:t>
            </a:r>
          </a:p>
          <a:p>
            <a:pPr fontAlgn="base">
              <a:lnSpc>
                <a:spcPct val="120000"/>
              </a:lnSpc>
            </a:pPr>
            <a:endParaRPr lang="en-US" sz="2400" dirty="0"/>
          </a:p>
          <a:p>
            <a:pPr fontAlgn="base">
              <a:lnSpc>
                <a:spcPct val="120000"/>
              </a:lnSpc>
            </a:pPr>
            <a:r>
              <a:rPr lang="en-US" sz="2400" b="1" dirty="0"/>
              <a:t>Strong class imbalance</a:t>
            </a:r>
            <a:r>
              <a:rPr lang="en-US" sz="2400" dirty="0"/>
              <a:t> in the training set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0CE294-7DD9-26C9-5F45-B9FE53071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115" y="2035500"/>
            <a:ext cx="5628217" cy="436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810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34270-C2D4-FC62-0E9D-F9A9DB13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64E696-611B-1354-3EC0-39BEAA84C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0FF4C8-DD68-5EFF-06CC-67E3EC8F7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27421E-196A-5F81-71AF-833DA0F1F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58C593-DE6A-8331-14DF-03592CC95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75374C-868B-C52D-8938-79862E242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40072-C75E-9CD9-8990-D9D523EC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Length-Based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4B965-2204-813A-05D3-98910231F580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810B5D-8D2D-6FD7-9BDD-DF3BDCE65DD3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3.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21A0AB-4C31-4FED-7611-609A96016E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6"/>
          <a:stretch>
            <a:fillRect/>
          </a:stretch>
        </p:blipFill>
        <p:spPr>
          <a:xfrm>
            <a:off x="181428" y="1962729"/>
            <a:ext cx="3830039" cy="3371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BB63DF-206A-7E52-D42F-5A7638E14F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86"/>
          <a:stretch>
            <a:fillRect/>
          </a:stretch>
        </p:blipFill>
        <p:spPr>
          <a:xfrm>
            <a:off x="8211720" y="1959584"/>
            <a:ext cx="3833447" cy="33712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4AC00B-5588-3182-8716-2CE7C6F753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022"/>
          <a:stretch>
            <a:fillRect/>
          </a:stretch>
        </p:blipFill>
        <p:spPr>
          <a:xfrm>
            <a:off x="4163148" y="1962728"/>
            <a:ext cx="3867863" cy="337127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0EE69A-3F32-8E10-8DC2-116C5CD79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5509277"/>
            <a:ext cx="11673240" cy="1107424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Answers for contradictions are </a:t>
            </a:r>
            <a:r>
              <a:rPr lang="en-US" sz="2400" b="1" dirty="0"/>
              <a:t>significantly shorter</a:t>
            </a:r>
            <a:r>
              <a:rPr lang="en-US" sz="2400" dirty="0"/>
              <a:t> than factual/ irrelevant types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8466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BB68E-0AB1-1764-051F-10D1A43A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64BCAF-076C-3EF9-6AC2-F0DD512A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E29B5-D8A0-2F4C-7D77-9421292F5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07DAD6-A715-E706-F8A9-195EB861A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B7B1F-E0BB-6DFB-094C-0E5A00036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605BCD-F2EA-7005-839D-4D94B33B6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ED7A7-D714-7AB3-EF86-B4138EC0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Train-Test Drift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56862-138A-5395-D4A1-EB94986E5EC0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E32E40-7DE2-BA65-7A1F-D19F36C39A8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3. Data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2D5F6F4-BE2F-10FB-27A3-4AC01AE66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75" y="2122698"/>
            <a:ext cx="11732646" cy="306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1F101-24A2-17A8-62C3-C8DE258AD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5326031"/>
            <a:ext cx="11673240" cy="1107424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Length-based feature distributions are </a:t>
            </a:r>
            <a:r>
              <a:rPr lang="en-US" sz="2400" b="1" dirty="0"/>
              <a:t>similar</a:t>
            </a:r>
            <a:r>
              <a:rPr lang="en-US" sz="2400" dirty="0"/>
              <a:t>, except that the training set includes </a:t>
            </a:r>
            <a:r>
              <a:rPr lang="en-US" sz="2400" b="1" dirty="0"/>
              <a:t>many short answers absent from the test set</a:t>
            </a:r>
          </a:p>
        </p:txBody>
      </p:sp>
    </p:spTree>
    <p:extLst>
      <p:ext uri="{BB962C8B-B14F-4D97-AF65-F5344CB8AC3E}">
        <p14:creationId xmlns:p14="http://schemas.microsoft.com/office/powerpoint/2010/main" val="3064584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6BAB7-2C3C-DC34-C8F7-F83A4040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F96FF7-8C2C-DBFE-89F2-EE0940BED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439EEB-61EB-6263-9055-8B74C5BFF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04DBD-9380-1D2D-99A7-7DA5D5F16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2BBEA-9696-FE6D-6CA2-5503BCCB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BF1256-5D21-FCC1-E8BA-E88111E34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DB558-A8F8-8BC1-09F0-1683B03D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Context Adequacy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2D2C85-B348-EFA7-A2C0-432B4E86F888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3.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48A8E-9C63-7AFF-B562-A670D35F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4571005"/>
            <a:ext cx="11673240" cy="1107424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/>
              <a:t>A </a:t>
            </a:r>
            <a:r>
              <a:rPr lang="en-US" sz="2400" b="1" dirty="0"/>
              <a:t>significant minority (~8-9%)</a:t>
            </a:r>
            <a:r>
              <a:rPr lang="en-US" sz="2400" dirty="0"/>
              <a:t> of data in both datasets have no context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All nonzero contexts with &lt; 25 words were </a:t>
            </a:r>
            <a:r>
              <a:rPr lang="en-US" sz="2400" b="1" dirty="0"/>
              <a:t>manually checked</a:t>
            </a:r>
            <a:r>
              <a:rPr lang="en-US" sz="2400" dirty="0"/>
              <a:t> for adequacy </a:t>
            </a: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DC0004-7B15-B658-FB4C-F21619C0F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26676" b="60997"/>
          <a:stretch>
            <a:fillRect/>
          </a:stretch>
        </p:blipFill>
        <p:spPr>
          <a:xfrm>
            <a:off x="1549398" y="1918614"/>
            <a:ext cx="6667502" cy="1002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62822-6D64-F769-F117-2FFCB28E9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48520" r="25279"/>
          <a:stretch>
            <a:fillRect/>
          </a:stretch>
        </p:blipFill>
        <p:spPr>
          <a:xfrm>
            <a:off x="1549398" y="2921000"/>
            <a:ext cx="6794502" cy="13230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C22082-15E2-A4C3-5175-B71DC3AD4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60" t="30257" r="823" b="41081"/>
          <a:stretch>
            <a:fillRect/>
          </a:stretch>
        </p:blipFill>
        <p:spPr>
          <a:xfrm>
            <a:off x="8204200" y="2594005"/>
            <a:ext cx="2374900" cy="736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94697F-981A-00E5-8342-4D354B14C0E8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AA3F25-9062-D259-5C83-CCECB60FD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7" t="48520" r="92558" b="38990"/>
          <a:stretch>
            <a:fillRect/>
          </a:stretch>
        </p:blipFill>
        <p:spPr>
          <a:xfrm>
            <a:off x="1679575" y="3137508"/>
            <a:ext cx="549604" cy="3209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E73985-A820-FAB1-3832-1F13676C1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92538" b="60997"/>
          <a:stretch>
            <a:fillRect/>
          </a:stretch>
        </p:blipFill>
        <p:spPr>
          <a:xfrm>
            <a:off x="1551938" y="2129105"/>
            <a:ext cx="678607" cy="100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88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B6741-95D2-E733-03AF-7E790611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562EC-0A85-E873-4A00-4B2E2E3C9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B64BE8-BF69-7A0C-0A0C-692EED617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027B26-2D15-A955-3B47-C154EE2CF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A30826-DE50-006B-4B5B-F84CF3C33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9A71D-FC8E-8483-8372-F4AEE4891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B02E8-CC5E-8970-7DC7-8445A327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Initial Approach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39C36AC-5B74-842B-B1C6-EE34CBEC088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DE995-3A09-7EA3-6556-7C4C31AC5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2196104"/>
            <a:ext cx="11673240" cy="4071406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>
                <a:solidFill>
                  <a:srgbClr val="FF0000"/>
                </a:solidFill>
              </a:rPr>
              <a:t>Cite some past literature on semantic similarity for factuality detection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Derived semantic similarity between the question, answer and context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Expectation: </a:t>
            </a:r>
          </a:p>
          <a:p>
            <a:pPr lvl="1" fontAlgn="base">
              <a:lnSpc>
                <a:spcPct val="120000"/>
              </a:lnSpc>
            </a:pPr>
            <a:r>
              <a:rPr lang="en-US" dirty="0"/>
              <a:t>Factual answer </a:t>
            </a:r>
            <a:r>
              <a:rPr lang="en-US" b="1" dirty="0"/>
              <a:t>shares keywords </a:t>
            </a:r>
            <a:r>
              <a:rPr lang="en-US" dirty="0"/>
              <a:t>with question and context → </a:t>
            </a:r>
            <a:r>
              <a:rPr lang="en-US" b="1" dirty="0"/>
              <a:t>high similarity</a:t>
            </a:r>
          </a:p>
          <a:p>
            <a:pPr lvl="1" fontAlgn="base">
              <a:lnSpc>
                <a:spcPct val="120000"/>
              </a:lnSpc>
            </a:pPr>
            <a:r>
              <a:rPr lang="en-US" dirty="0"/>
              <a:t>Irrelevant answer is </a:t>
            </a:r>
            <a:r>
              <a:rPr lang="en-US" b="1" dirty="0"/>
              <a:t>misaligned</a:t>
            </a:r>
            <a:r>
              <a:rPr lang="en-US" dirty="0"/>
              <a:t> with question and context → </a:t>
            </a:r>
            <a:r>
              <a:rPr lang="en-US" b="1" dirty="0"/>
              <a:t>low similarity</a:t>
            </a:r>
          </a:p>
          <a:p>
            <a:pPr lvl="1" fontAlgn="base">
              <a:lnSpc>
                <a:spcPct val="120000"/>
              </a:lnSpc>
            </a:pPr>
            <a:r>
              <a:rPr lang="en-US" dirty="0"/>
              <a:t>Contradictory answer → somewhere in between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06E2E3-CB81-F3D5-AFDC-06977DAE4163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33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A96C3-7E50-B358-CA20-9108C040C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C9A283-5C77-7256-8F4D-356D074BC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6CE97-D4BB-470C-869F-F4EE9E7D5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970FED-7817-1BC5-D73A-09B65B150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F40830-0B13-92E0-55DA-AF833FFA9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A8785-07F7-6821-8A75-DDAEF35F8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FBF2E-C2F3-9EB7-6BF0-4C1B2231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Results from </a:t>
            </a:r>
            <a:r>
              <a:rPr lang="en-US" sz="4000" dirty="0" err="1">
                <a:solidFill>
                  <a:srgbClr val="FFFFFF"/>
                </a:solidFill>
              </a:rPr>
              <a:t>EmbeddingGemma</a:t>
            </a:r>
            <a:r>
              <a:rPr lang="en-US" sz="4000" dirty="0">
                <a:solidFill>
                  <a:srgbClr val="FFFFFF"/>
                </a:solidFill>
              </a:rPr>
              <a:t>[]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D4D386-DF16-EE47-4795-B5067C18C08E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30696-B35F-1408-2F55-217E86EEFFE9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222D4C-D7E0-9CC5-A306-78CCF4CFC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568" y="1850016"/>
            <a:ext cx="6154859" cy="471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03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A0E17-B9C2-F6A2-618F-AEF7F566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D32349-843E-CECA-88A9-D9F714249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5174D-9E3A-1D81-7D85-B5D3E22D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EA184-E893-E728-48C3-274CB0C65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423DD1-52CD-8CA2-6FC3-0AD319DE2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6075CC-E42D-6504-BC54-C47845D38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9FB82-BB00-2FF1-6DEF-359FF86C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Explanation of Results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8494CF-C1B6-86B7-5461-721AF47097F6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4F43F8-E723-FB1E-3735-F96473E9954C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0CC888-2ADE-EAD0-868F-F47C47C08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50" y="1824616"/>
            <a:ext cx="6154859" cy="4712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AECA59-2938-B986-29E5-7E416FBCB55A}"/>
              </a:ext>
            </a:extLst>
          </p:cNvPr>
          <p:cNvSpPr txBox="1"/>
          <p:nvPr/>
        </p:nvSpPr>
        <p:spPr>
          <a:xfrm>
            <a:off x="6675966" y="2830754"/>
            <a:ext cx="5018729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Short answers</a:t>
            </a:r>
            <a:r>
              <a:rPr lang="en-US" sz="2200" dirty="0"/>
              <a:t> (eg. "six months", "2") have minimal semantic similarity with the question and context. </a:t>
            </a:r>
          </a:p>
          <a:p>
            <a:endParaRPr lang="en-US" sz="2200" dirty="0"/>
          </a:p>
          <a:p>
            <a:r>
              <a:rPr lang="en-US" sz="2200" dirty="0"/>
              <a:t>They just happened to be predominantly contradictions in the training set.</a:t>
            </a:r>
          </a:p>
          <a:p>
            <a:endParaRPr lang="en-US" sz="105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2C7576-AEC6-6F9E-5C56-B367DAA0608D}"/>
              </a:ext>
            </a:extLst>
          </p:cNvPr>
          <p:cNvSpPr/>
          <p:nvPr/>
        </p:nvSpPr>
        <p:spPr>
          <a:xfrm>
            <a:off x="1713296" y="5563401"/>
            <a:ext cx="616017" cy="61601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5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BC273-8F37-EF2A-FB03-8FE17C5D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62E24E-FA72-B69A-B26C-BAAD7C68C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A20BF7-6472-65C8-FE8B-930460302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D414AC-C0CF-4DAC-F31E-ABCF7C03F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98CCBD-6B53-394C-A942-562EC6F88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DD854-7652-0EA5-48CB-F71A8D606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859E2-CEF8-7D2A-DB67-734A9BE2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Explanation of Results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859DFD-C8CB-D0F7-C3ED-D147BAE9121F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27B5A6-16AC-BF62-B3CC-9FC6716AD1B1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48109-90FC-F689-E69A-608C7144A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50" y="1824616"/>
            <a:ext cx="6154859" cy="4712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D237FC-AA36-973B-AA0B-88930DFCA75E}"/>
              </a:ext>
            </a:extLst>
          </p:cNvPr>
          <p:cNvSpPr txBox="1"/>
          <p:nvPr/>
        </p:nvSpPr>
        <p:spPr>
          <a:xfrm>
            <a:off x="6675966" y="2830754"/>
            <a:ext cx="5018729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Answers to questions with empty contexts </a:t>
            </a:r>
            <a:r>
              <a:rPr lang="en-US" sz="2200" dirty="0"/>
              <a:t>yielded high similarity scores even when they were contradictory.</a:t>
            </a:r>
          </a:p>
          <a:p>
            <a:endParaRPr lang="en-US" sz="2200" dirty="0"/>
          </a:p>
          <a:p>
            <a:r>
              <a:rPr lang="en-US" sz="2200" dirty="0"/>
              <a:t>There is no context to counterbalance the semantic alignment between the question and answer.</a:t>
            </a:r>
          </a:p>
          <a:p>
            <a:endParaRPr lang="en-US" sz="105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B8B4138-2B9A-FE56-7322-BD494596BD68}"/>
              </a:ext>
            </a:extLst>
          </p:cNvPr>
          <p:cNvSpPr/>
          <p:nvPr/>
        </p:nvSpPr>
        <p:spPr>
          <a:xfrm>
            <a:off x="4437246" y="5563401"/>
            <a:ext cx="885529" cy="61601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41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BB551-019F-C511-37C8-BE348993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868236-A5F2-6656-0E51-685C7F0FA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02584-3CA6-7B4F-BC90-2D6ECF43A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59E57A-E4A3-AEA3-9A99-48B0D8DE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9F0950-C613-9D7A-F7BA-24DF4C338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73578B-2132-0D32-4ABC-B033580B2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0AB55-D7A5-F329-2612-68551E9B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Reframing the Analytics Problem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C7D77F-DA09-0AD9-0BFD-CC654843F426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2. Analytics Problem Framing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101A8F-70CD-A058-AF4B-C01A6CAFD34E}"/>
              </a:ext>
            </a:extLst>
          </p:cNvPr>
          <p:cNvCxnSpPr>
            <a:cxnSpLocks/>
          </p:cNvCxnSpPr>
          <p:nvPr/>
        </p:nvCxnSpPr>
        <p:spPr>
          <a:xfrm>
            <a:off x="5969000" y="2218516"/>
            <a:ext cx="0" cy="358140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B3C375-7B58-18DB-5200-08CD02CE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978" y="2417732"/>
            <a:ext cx="5227022" cy="3182968"/>
          </a:xfrm>
        </p:spPr>
        <p:txBody>
          <a:bodyPr anchor="t">
            <a:normAutofit/>
          </a:bodyPr>
          <a:lstStyle/>
          <a:p>
            <a:pPr marL="0" indent="0" algn="ctr" fontAlgn="base">
              <a:lnSpc>
                <a:spcPct val="120000"/>
              </a:lnSpc>
              <a:buNone/>
            </a:pPr>
            <a:r>
              <a:rPr lang="en-US" sz="2600" dirty="0"/>
              <a:t>Cases with context:</a:t>
            </a:r>
          </a:p>
          <a:p>
            <a:pPr marL="0" indent="0" algn="ctr" fontAlgn="base">
              <a:lnSpc>
                <a:spcPct val="120000"/>
              </a:lnSpc>
              <a:buNone/>
            </a:pPr>
            <a:endParaRPr lang="en-US" sz="2600" b="1" dirty="0"/>
          </a:p>
          <a:p>
            <a:pPr marL="0" indent="0" algn="ctr" fontAlgn="base">
              <a:lnSpc>
                <a:spcPct val="120000"/>
              </a:lnSpc>
              <a:buNone/>
            </a:pPr>
            <a:r>
              <a:rPr lang="en-US" sz="2600" dirty="0"/>
              <a:t>Evaluate answer factuality/ relevance </a:t>
            </a:r>
            <a:r>
              <a:rPr lang="en-US" sz="2600" b="1" dirty="0"/>
              <a:t>with respect to the question + context</a:t>
            </a:r>
            <a:r>
              <a:rPr lang="en-US" sz="260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C373B2-30E8-A68C-AD39-07258C7147B6}"/>
              </a:ext>
            </a:extLst>
          </p:cNvPr>
          <p:cNvSpPr txBox="1">
            <a:spLocks/>
          </p:cNvSpPr>
          <p:nvPr/>
        </p:nvSpPr>
        <p:spPr>
          <a:xfrm>
            <a:off x="6485072" y="2424422"/>
            <a:ext cx="5059228" cy="36969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600" dirty="0"/>
              <a:t>Cases with no context:</a:t>
            </a:r>
          </a:p>
          <a:p>
            <a:pPr marL="0" indent="0" algn="ctr" fontAlgn="base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600" b="1" dirty="0"/>
          </a:p>
          <a:p>
            <a:pPr marL="0" indent="0" algn="ctr" fontAlgn="base">
              <a:lnSpc>
                <a:spcPct val="120000"/>
              </a:lnSpc>
              <a:buNone/>
            </a:pPr>
            <a:r>
              <a:rPr lang="en-US" sz="2600" dirty="0"/>
              <a:t>Evaluate answer factuality/ relevance </a:t>
            </a:r>
            <a:r>
              <a:rPr lang="en-US" sz="2600" b="1" dirty="0"/>
              <a:t>with respect to the question + external knowledge</a:t>
            </a:r>
            <a:r>
              <a:rPr lang="en-US" sz="2600" dirty="0"/>
              <a:t>.</a:t>
            </a:r>
          </a:p>
          <a:p>
            <a:pPr marL="0" indent="0" algn="ctr" fontAlgn="base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53FE45-F8BC-7AB3-F7C7-5664E1EE6D88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65530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AD97C-2BE4-51DD-2204-B08C1C3F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ACD896D-2421-C858-27FE-F6927E01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832197-8257-C773-C49F-CA816B2F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5DD8C-F9F8-801A-EE52-A8ACCB42F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F0D9EA-DD4B-CEC4-5D72-62495429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1E4C1B-14FF-0694-9F7C-265225131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37C08-52B4-A79F-C074-A5A35039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Final Approach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946517-620A-23D2-B2B1-393A25C03C3F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507C4-D28E-716F-E36F-9C1B49B2D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2196104"/>
            <a:ext cx="11227407" cy="4331696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>
                <a:solidFill>
                  <a:srgbClr val="FF0000"/>
                </a:solidFill>
              </a:rPr>
              <a:t>Cite some past literature on MNLI inference &amp; LLM-as-a-judge for factuality detection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We need to </a:t>
            </a:r>
            <a:r>
              <a:rPr lang="en-US" sz="2400" b="1" dirty="0"/>
              <a:t>reason</a:t>
            </a:r>
            <a:r>
              <a:rPr lang="en-US" sz="2400" dirty="0"/>
              <a:t> about factuality and relevance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Our approach incorporates: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0D1B7-C961-87A3-D8EE-CFED1FA864D1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E69E0A-70BA-8796-CFBB-E6669EEF3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357707"/>
              </p:ext>
            </p:extLst>
          </p:nvPr>
        </p:nvGraphicFramePr>
        <p:xfrm>
          <a:off x="669761" y="4507877"/>
          <a:ext cx="10823697" cy="1637852"/>
        </p:xfrm>
        <a:graphic>
          <a:graphicData uri="http://schemas.openxmlformats.org/drawingml/2006/table">
            <a:tbl>
              <a:tblPr/>
              <a:tblGrid>
                <a:gridCol w="2766461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8057236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</a:tblGrid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MNLI Model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Premise-Hypothesis structure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allows logical reasoning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Premise = Context + Question  |  Hypothesis = Answer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LLM-as-a-judge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LLMs have strong </a:t>
                      </a: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semantic reasoning capabilities</a:t>
                      </a:r>
                      <a:endParaRPr lang="en-US" sz="2400" b="1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574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6E1B9-76EA-353C-9BA6-E4210C9E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096692-5013-07A2-6F21-E12BF75B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50B09C-54B8-8BB2-67DE-4BF3EDA37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D58816-CA02-3949-49D4-B0C502D2C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C2D973-33ED-24C3-97E7-21C72F61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803A71-0B59-6F6A-9F65-C6AF3BCA1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3EC27-D48E-0D1A-CC28-82671BD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Data with No Context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90C4DF-37B0-2745-C739-112ED3BC5386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C5049-A529-E146-818A-E4B509047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2196104"/>
            <a:ext cx="11227407" cy="855768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600" dirty="0"/>
              <a:t>Additional procedures were applied to no-context cases: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E8941F-28DA-BE9A-D038-82FFA90242F0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521F79-CFB0-D488-BD0B-B924B59F4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81854"/>
              </p:ext>
            </p:extLst>
          </p:nvPr>
        </p:nvGraphicFramePr>
        <p:xfrm>
          <a:off x="459350" y="3059974"/>
          <a:ext cx="10491077" cy="1456682"/>
        </p:xfrm>
        <a:graphic>
          <a:graphicData uri="http://schemas.openxmlformats.org/drawingml/2006/table">
            <a:tbl>
              <a:tblPr/>
              <a:tblGrid>
                <a:gridCol w="2892849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7598228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</a:tblGrid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MNLI Model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Context augmentation from an external source</a:t>
                      </a:r>
                      <a:endParaRPr lang="en-US" sz="2400" b="0" i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LLM-as-a-judge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Modified LLM prompt with amended decision rule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749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98B7A-5E1E-782D-3347-02D82AB71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BCDF830-32A8-66B2-1506-981B7CB4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256922-FFE9-34F7-AE28-BF28573E5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1F335-A880-399A-10C3-414E3C4F2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AF9D2B-8090-66E6-A09A-6BE9A7C72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0C63CF-B20B-C3D6-FDF5-33E1AAD5E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E2C02-8F23-F614-E748-4D31A157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Final Pipeline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968670-C3BB-AF38-ED60-200FCDA16D90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EF60B-B0E6-9385-1E08-4F7B777A3A18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EABE02-C4A0-710A-B40D-A90926222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12" y="1722404"/>
            <a:ext cx="9165771" cy="493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00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7B9CA-98D6-EEF0-CF20-7FBA01C1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C5E857-ED18-3B5B-6F98-746A992DB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9740AF-908A-9197-D3DC-BDC55447F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E6A06-41A7-CBC0-9D53-7931493BD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B0D2DF-C2EA-07BD-4494-C64899F1F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53BF9D-0801-DAEB-D59C-B4A6F9259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2586A-223F-EAE0-8FC7-8167426C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MNLI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BE5629-8AFD-3F4C-DA82-44CC37FFDF9E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95E49-1DC4-68FD-51B5-BAC6AE35C617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16B345-3E0E-D4B8-EEB0-D14B92FD0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12" y="1722404"/>
            <a:ext cx="9165771" cy="49319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24C57E-3C5E-0720-E257-3F58161680AA}"/>
              </a:ext>
            </a:extLst>
          </p:cNvPr>
          <p:cNvSpPr/>
          <p:nvPr/>
        </p:nvSpPr>
        <p:spPr>
          <a:xfrm>
            <a:off x="2950029" y="4030658"/>
            <a:ext cx="4506685" cy="27486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57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72D19-544B-8D6A-0293-13D047F35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F84464-A192-EDE8-F11D-49E50308D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65A817-BB07-3B93-DC42-7237A7F5E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90917F-E512-05B6-4E74-4C2FB1FA7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2E4FA-9711-1236-3B82-37F982B54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073707-A3C9-7187-75F7-97B4474A6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E7C2A-66A8-A123-E1EF-2B118E9B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MNLI Model Selection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906EF2-58FC-9B3F-6FBF-7193BD626F9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47402-4D20-F4A0-B1A6-BFC6962A659A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7F45E-32FE-84D2-B788-5F0A91B665CE}"/>
              </a:ext>
            </a:extLst>
          </p:cNvPr>
          <p:cNvSpPr txBox="1"/>
          <p:nvPr/>
        </p:nvSpPr>
        <p:spPr>
          <a:xfrm>
            <a:off x="6559451" y="1861671"/>
            <a:ext cx="5346701" cy="4055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Procedure: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Stratified 80/10/10 split of train set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We compared validation performance (balanced accuracy) of several pretrained and fine-tuned models</a:t>
            </a:r>
          </a:p>
          <a:p>
            <a:pPr>
              <a:lnSpc>
                <a:spcPct val="110000"/>
              </a:lnSpc>
            </a:pPr>
            <a:endParaRPr lang="en-US" sz="1500" dirty="0"/>
          </a:p>
          <a:p>
            <a:pPr>
              <a:lnSpc>
                <a:spcPct val="110000"/>
              </a:lnSpc>
            </a:pPr>
            <a:r>
              <a:rPr lang="en-US" sz="2200" dirty="0"/>
              <a:t>Results: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Fine-tuned DeBERTA-v3-large </a:t>
            </a:r>
            <a:r>
              <a:rPr lang="en-US" sz="2200" dirty="0"/>
              <a:t>gave the best validation performance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Unbiased test accuracy: 97.70%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Fine-tuning yields </a:t>
            </a:r>
            <a:r>
              <a:rPr lang="en-US" sz="2200" b="1" dirty="0"/>
              <a:t>~25-30% gains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31784-2F50-D99B-EB2B-C65F562730B3}"/>
              </a:ext>
            </a:extLst>
          </p:cNvPr>
          <p:cNvSpPr txBox="1"/>
          <p:nvPr/>
        </p:nvSpPr>
        <p:spPr>
          <a:xfrm>
            <a:off x="459349" y="6102386"/>
            <a:ext cx="1017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For the final competition submission, models were retrained on the full training dataset.</a:t>
            </a:r>
            <a:endParaRPr lang="en-US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B2AC6973-AF65-EBE9-900E-6C2BB996A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02" y="1900171"/>
            <a:ext cx="5630040" cy="421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991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CABA8-F864-8B77-59EA-3F51CBFC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A4C065-EB5B-CC4B-119C-5DF10C25C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F24EB4-3C7D-5A21-0965-047B68746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18D22D-F1E8-E77D-BB43-ED4D399C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B0E2F-2682-370F-63DB-1DD013BB5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CC9A5C-5E0E-813A-0162-41D3F940C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B0F56-7F2C-840A-C2BB-1C1B4A9EC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Context Augmentation with SERPAPI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4EC8FB-623A-AEA3-1F69-AFBA226EF89F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B93DD-B3D4-0B25-2C53-F6EB53F220E0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12954-453C-956A-2AA3-E68345EB1A31}"/>
              </a:ext>
            </a:extLst>
          </p:cNvPr>
          <p:cNvSpPr txBox="1"/>
          <p:nvPr/>
        </p:nvSpPr>
        <p:spPr>
          <a:xfrm>
            <a:off x="6559451" y="1861671"/>
            <a:ext cx="5346701" cy="4427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Procedure for </a:t>
            </a:r>
            <a:r>
              <a:rPr lang="en-US" sz="2200" u="sng" dirty="0"/>
              <a:t>no-context data</a:t>
            </a:r>
            <a:r>
              <a:rPr lang="en-US" sz="2200" dirty="0"/>
              <a:t>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We passed in the question as a search query and retrieved the </a:t>
            </a:r>
            <a:r>
              <a:rPr lang="en-US" sz="2200" b="1" dirty="0"/>
              <a:t>first paragraph of Google Search Overview result</a:t>
            </a:r>
            <a:endParaRPr lang="en-US" sz="2200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We then compared performance of different strategies on the test split</a:t>
            </a:r>
          </a:p>
          <a:p>
            <a:pPr>
              <a:lnSpc>
                <a:spcPct val="110000"/>
              </a:lnSpc>
            </a:pPr>
            <a:endParaRPr lang="en-US" sz="1500" dirty="0"/>
          </a:p>
          <a:p>
            <a:pPr>
              <a:lnSpc>
                <a:spcPct val="110000"/>
              </a:lnSpc>
            </a:pPr>
            <a:r>
              <a:rPr lang="en-US" sz="2200" dirty="0"/>
              <a:t>Results: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External retrieval (SERPAPI) helps only when model is trained on it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Retrieval-aware training exposes the model to similar input distributions</a:t>
            </a:r>
            <a:endParaRPr lang="en-US" sz="2200" b="1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45705EF-289E-4A26-7E16-A047CA910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21" y="1950250"/>
            <a:ext cx="5668219" cy="424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A40987-104E-E0E1-F7F1-A9CB1F30CF84}"/>
              </a:ext>
            </a:extLst>
          </p:cNvPr>
          <p:cNvSpPr txBox="1"/>
          <p:nvPr/>
        </p:nvSpPr>
        <p:spPr>
          <a:xfrm>
            <a:off x="1729456" y="2959613"/>
            <a:ext cx="9797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ptos" panose="020B0004020202020204" pitchFamily="34" charset="0"/>
              </a:rPr>
              <a:t>97.92​</a:t>
            </a:r>
            <a:endParaRPr lang="en-US" sz="1050" dirty="0">
              <a:solidFill>
                <a:schemeClr val="bg1"/>
              </a:solidFill>
            </a:endParaRPr>
          </a:p>
          <a:p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B2240-BBC0-F719-BDBA-CC72EA5CD06E}"/>
              </a:ext>
            </a:extLst>
          </p:cNvPr>
          <p:cNvSpPr txBox="1"/>
          <p:nvPr/>
        </p:nvSpPr>
        <p:spPr>
          <a:xfrm>
            <a:off x="3346055" y="4093288"/>
            <a:ext cx="9797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ptos" panose="020B0004020202020204" pitchFamily="34" charset="0"/>
              </a:rPr>
              <a:t>92.89​</a:t>
            </a:r>
            <a:endParaRPr lang="en-US" sz="1050" dirty="0">
              <a:solidFill>
                <a:schemeClr val="bg1"/>
              </a:solidFill>
            </a:endParaRPr>
          </a:p>
          <a:p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549E26-7073-07FA-12C6-7327259C495B}"/>
              </a:ext>
            </a:extLst>
          </p:cNvPr>
          <p:cNvSpPr txBox="1"/>
          <p:nvPr/>
        </p:nvSpPr>
        <p:spPr>
          <a:xfrm>
            <a:off x="4984004" y="2592240"/>
            <a:ext cx="97971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ptos" panose="020B0004020202020204" pitchFamily="34" charset="0"/>
              </a:rPr>
              <a:t>99.56​</a:t>
            </a:r>
            <a:endParaRPr lang="en-US" sz="1050" dirty="0">
              <a:solidFill>
                <a:schemeClr val="bg1"/>
              </a:solidFill>
            </a:endParaRPr>
          </a:p>
          <a:p>
            <a:endParaRPr 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693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7373A-0CE0-816B-1BCE-D2DEFBC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8E7089-E861-BAF7-C8BC-566DE71FD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681EAC-1550-4133-01B0-04BF78139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A459B-8E9D-369E-1E6C-6D5FCED69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96A133-B57E-CCE1-8D35-52E7A2ADF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086F7B-84F8-575D-5B13-CAFE4E2A1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2E185C-C2D2-7F92-1577-C9DE7D956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Large Language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FAEC36-8C9A-B12C-8EE6-16A17F2CEAD5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DBA11-8582-EA16-659B-CE9979170BC1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221B0-A4C9-6FE0-760B-B5DFB4D0B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12" y="1722404"/>
            <a:ext cx="9165771" cy="49319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AF37D6-FE7C-431E-5D67-65EBD0B078BC}"/>
              </a:ext>
            </a:extLst>
          </p:cNvPr>
          <p:cNvSpPr/>
          <p:nvPr/>
        </p:nvSpPr>
        <p:spPr>
          <a:xfrm>
            <a:off x="2950029" y="1657569"/>
            <a:ext cx="4506685" cy="2217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75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23875-AE30-03C1-904D-42EB04C6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576025-E879-A524-5DC1-0B97C619E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D51218-4434-D93E-5E97-34F8A5F91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26F915-1446-AC7F-F124-369705A44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FBBF6-897C-135F-1697-59038996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317DA5-55AD-2D0C-7AC9-1CB36306B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DF2B5-F137-38C8-F52B-00EDE756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LLM Selection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9A3B17-AC19-FE32-8830-C53B1F5A3B3C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AB0D7-1AA3-C724-EF89-4B09BDC54AAF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0205F-E810-BD5A-3D3C-6A51C27ACB77}"/>
              </a:ext>
            </a:extLst>
          </p:cNvPr>
          <p:cNvSpPr txBox="1"/>
          <p:nvPr/>
        </p:nvSpPr>
        <p:spPr>
          <a:xfrm>
            <a:off x="459349" y="5596417"/>
            <a:ext cx="2558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B73B6-6457-825B-E35C-C20D66C41C1B}"/>
              </a:ext>
            </a:extLst>
          </p:cNvPr>
          <p:cNvSpPr txBox="1"/>
          <p:nvPr/>
        </p:nvSpPr>
        <p:spPr>
          <a:xfrm>
            <a:off x="6559451" y="1861671"/>
            <a:ext cx="5346701" cy="4427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Procedure: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LLMs were prompted to classify data with clear decision rules (modified for the cases with no context)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Ran LLMs on 5,000 rows for validation, and 5,000 rows for a test estimate</a:t>
            </a:r>
          </a:p>
          <a:p>
            <a:pPr>
              <a:lnSpc>
                <a:spcPct val="110000"/>
              </a:lnSpc>
            </a:pPr>
            <a:endParaRPr lang="en-US" sz="1500" dirty="0"/>
          </a:p>
          <a:p>
            <a:pPr>
              <a:lnSpc>
                <a:spcPct val="110000"/>
              </a:lnSpc>
            </a:pPr>
            <a:r>
              <a:rPr lang="en-US" sz="2200" dirty="0"/>
              <a:t>Results: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Azure OpenAI’s gpt-5-mini</a:t>
            </a:r>
            <a:r>
              <a:rPr lang="en-US" sz="2200" dirty="0"/>
              <a:t> gave the highest </a:t>
            </a:r>
            <a:r>
              <a:rPr lang="en-US" sz="2200" dirty="0">
                <a:solidFill>
                  <a:srgbClr val="FF0000"/>
                </a:solidFill>
              </a:rPr>
              <a:t>FILL IN</a:t>
            </a:r>
            <a:r>
              <a:rPr lang="en-US" sz="2200" dirty="0"/>
              <a:t> validation accuracy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Unbiased test accuracy: </a:t>
            </a:r>
            <a:r>
              <a:rPr lang="en-US" sz="2200" dirty="0">
                <a:solidFill>
                  <a:srgbClr val="FF0000"/>
                </a:solidFill>
              </a:rPr>
              <a:t>FILL IN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 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404571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D14B0-30F8-0A5C-EF7B-005304D3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D1A880-8F21-7E91-0CD8-7C6BAD661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902AD-4D6F-8A8A-CDD1-27F6A6F97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875600-771C-68BB-B808-9E4FEDA1A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CEB89-8CD8-A1A6-C281-68E3E8C9E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FA86D-3994-2A05-133F-4226E1F0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CA7D2-AF13-6913-D3FE-DC5F81B8B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Ensemble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3A0F4-2EAF-D17F-B62E-431AFBDEB3A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FA8C7-B467-840F-5623-1D16ABED5727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5ADAC-B817-56C6-7F25-CBD13026A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12" y="1722404"/>
            <a:ext cx="9165771" cy="49319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450ED7-FA83-95DC-0A24-85B8B06ABDE6}"/>
              </a:ext>
            </a:extLst>
          </p:cNvPr>
          <p:cNvSpPr/>
          <p:nvPr/>
        </p:nvSpPr>
        <p:spPr>
          <a:xfrm>
            <a:off x="7424058" y="2973597"/>
            <a:ext cx="3385456" cy="3789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93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7BF05-9075-86D7-DFBA-0B5E665D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E6C4B1-1EEF-F5C1-4F97-E86F33EB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734615-CBD1-2534-E570-4DB0C0061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19680-5180-C5DF-9B8F-85EBF0B43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5B120-3E9E-3F4B-F6E2-9970903E9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026277-4717-B5AD-04B0-D89181F76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A8279-A115-C177-CBF2-2BE0EE27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Confusion Matrices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5ACBCF-2B9D-6504-EFCF-4A44A7AA13A7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36DDF-EF52-D4B6-164A-CE8BCF5FF40B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8A878-46CC-2165-64D7-ABC54050B87F}"/>
              </a:ext>
            </a:extLst>
          </p:cNvPr>
          <p:cNvSpPr txBox="1"/>
          <p:nvPr/>
        </p:nvSpPr>
        <p:spPr>
          <a:xfrm>
            <a:off x="371927" y="1920359"/>
            <a:ext cx="10916559" cy="82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Justification for the ensemble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Both approaches independently make classifications</a:t>
            </a:r>
            <a:endParaRPr 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730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A64DD-1A57-C4FB-36E8-D5E61459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55F31-708D-E1E7-8677-5B5ED2C1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9B1464-905C-FFB3-64AE-EC0395A5E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EBCF6C-884D-FB51-A09A-153A92F5B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BBB886-2414-8A14-8120-B5E398CE0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23274E-E6E1-BF3C-007F-2396424B3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5D138-B622-E912-8D5E-52143CA4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Ensemble Approach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EE39DC-9BD2-0FF3-62A6-5D50944C500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93BE06-1440-1F3E-FB5A-4E43977C4B6C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029FC4-5AE1-FA64-D00C-BB1499B0C351}"/>
              </a:ext>
            </a:extLst>
          </p:cNvPr>
          <p:cNvSpPr txBox="1"/>
          <p:nvPr/>
        </p:nvSpPr>
        <p:spPr>
          <a:xfrm>
            <a:off x="5584371" y="1920359"/>
            <a:ext cx="5704115" cy="417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Procedure: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Both models were run on the test split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MNLI/LLM disagreements were identified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sz="2200" dirty="0"/>
              <a:t>Results: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Model disagreements in </a:t>
            </a:r>
            <a:r>
              <a:rPr lang="en-US" sz="2200" b="1" dirty="0"/>
              <a:t>&lt;2% of cases</a:t>
            </a:r>
            <a:r>
              <a:rPr lang="en-US" sz="2200" dirty="0"/>
              <a:t>​ necessitating human review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Disagreements are dominated by </a:t>
            </a:r>
            <a:r>
              <a:rPr lang="en-US" sz="2200" b="1" dirty="0"/>
              <a:t>factual ↔ contradiction flips​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Balanced accuracy after ensemble approach rises to </a:t>
            </a:r>
            <a:r>
              <a:rPr lang="en-US" sz="2200" b="1" dirty="0" err="1">
                <a:solidFill>
                  <a:srgbClr val="FF0000"/>
                </a:solidFill>
              </a:rPr>
              <a:t>TO</a:t>
            </a:r>
            <a:r>
              <a:rPr lang="en-US" sz="2200" b="1" dirty="0">
                <a:solidFill>
                  <a:srgbClr val="FF0000"/>
                </a:solidFill>
              </a:rPr>
              <a:t> FILL 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05BAB9-B3D9-67DB-53A4-6502DBA3B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14" y="1859556"/>
            <a:ext cx="3606985" cy="341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80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C103B-8EB5-CB1F-5903-657F9446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73E668-2A48-E160-568E-5543A7FDC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52DC00-4AF6-70D8-1451-338BFED24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D0705-8A70-64E3-D4BF-9825E4FAB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427E02-6622-7E0F-935C-898588D5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9142B-4A7A-11A6-3100-C01995B0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EDB91-2EEF-DF64-681E-7ADFEFFD9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Final Results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B53933-6237-175A-C5F6-E5F9083C70C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CBB3A3-4E72-E7CC-BD02-DA18778AA10D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28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D13CEB-365C-A105-0A83-D6CE2695C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201896"/>
              </p:ext>
            </p:extLst>
          </p:nvPr>
        </p:nvGraphicFramePr>
        <p:xfrm>
          <a:off x="494255" y="2617469"/>
          <a:ext cx="11203486" cy="2905626"/>
        </p:xfrm>
        <a:graphic>
          <a:graphicData uri="http://schemas.openxmlformats.org/drawingml/2006/table">
            <a:tbl>
              <a:tblPr/>
              <a:tblGrid>
                <a:gridCol w="2147344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261079012"/>
                    </a:ext>
                  </a:extLst>
                </a:gridCol>
              </a:tblGrid>
              <a:tr h="50252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endParaRPr lang="en-US" sz="24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Balanced Accuracy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 Time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 Cost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Competition Results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99.03%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Target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95.0%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Stretch Goal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99.5%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8752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D25BB-4750-4A6A-C90F-B5743299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B9BCA2-F4DA-79FE-BC3C-97B42B6D9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49DB9F-C4EA-A4E0-477B-BC069BEA3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7D67F-30B1-F8C7-1A55-14E4A8F95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264AB4-2597-40E0-CF7E-352A82EF3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85F2AC-363B-AA5E-6A22-77C7FCFFD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4B9A6-BB73-8D24-3029-00EA78E16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Overview of AI Services Used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BE73B7-5A90-3C11-9AC4-94015FB0FE66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8184D-A976-48CD-2FCD-D39609708890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E64E32-0D68-371B-63AA-D483CC16FD7C}"/>
              </a:ext>
            </a:extLst>
          </p:cNvPr>
          <p:cNvGrpSpPr/>
          <p:nvPr/>
        </p:nvGrpSpPr>
        <p:grpSpPr>
          <a:xfrm>
            <a:off x="753624" y="2320841"/>
            <a:ext cx="10684748" cy="3813749"/>
            <a:chOff x="970849" y="2270875"/>
            <a:chExt cx="10684748" cy="381374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9DCBA45-5126-908D-590D-67510C7CF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562" t="2872" r="20347" b="2753"/>
            <a:stretch>
              <a:fillRect/>
            </a:stretch>
          </p:blipFill>
          <p:spPr>
            <a:xfrm>
              <a:off x="970849" y="2270875"/>
              <a:ext cx="3010599" cy="270181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259E1E-A250-6B22-0947-80C418C0AB85}"/>
                </a:ext>
              </a:extLst>
            </p:cNvPr>
            <p:cNvSpPr txBox="1"/>
            <p:nvPr/>
          </p:nvSpPr>
          <p:spPr>
            <a:xfrm>
              <a:off x="1120073" y="5130517"/>
              <a:ext cx="271214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Azure OpenAI</a:t>
              </a:r>
            </a:p>
            <a:p>
              <a:pPr algn="ctr"/>
              <a:r>
                <a:rPr lang="en-US" sz="2800" dirty="0"/>
                <a:t>(LLM)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B33B74-9EC9-56E8-8D8D-E1F45F22E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7553" y="2270875"/>
              <a:ext cx="2701819" cy="270181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9EFFC8-3429-95A9-4D5D-A7625A7C2AA6}"/>
                </a:ext>
              </a:extLst>
            </p:cNvPr>
            <p:cNvSpPr txBox="1"/>
            <p:nvPr/>
          </p:nvSpPr>
          <p:spPr>
            <a:xfrm>
              <a:off x="4727223" y="5130517"/>
              <a:ext cx="271214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Hugging Face</a:t>
              </a:r>
            </a:p>
            <a:p>
              <a:pPr algn="ctr"/>
              <a:r>
                <a:rPr lang="en-US" sz="2800" dirty="0"/>
                <a:t>(NLI Models)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31E63A3-4A32-5B67-C919-60B428916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85250" y="2572736"/>
              <a:ext cx="2117938" cy="121186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6D884E-A775-637A-460F-6D32EB5088C6}"/>
                </a:ext>
              </a:extLst>
            </p:cNvPr>
            <p:cNvSpPr txBox="1"/>
            <p:nvPr/>
          </p:nvSpPr>
          <p:spPr>
            <a:xfrm>
              <a:off x="7963075" y="5130517"/>
              <a:ext cx="36925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Google </a:t>
              </a:r>
              <a:r>
                <a:rPr lang="en-US" sz="2800" dirty="0" err="1"/>
                <a:t>Colab</a:t>
              </a:r>
              <a:r>
                <a:rPr lang="en-US" sz="2800" dirty="0"/>
                <a:t> &amp; Kaggle</a:t>
              </a:r>
            </a:p>
            <a:p>
              <a:pPr algn="ctr"/>
              <a:r>
                <a:rPr lang="en-US" sz="2800" dirty="0"/>
                <a:t>(GPU)</a:t>
              </a:r>
            </a:p>
          </p:txBody>
        </p:sp>
        <p:pic>
          <p:nvPicPr>
            <p:cNvPr id="4102" name="Picture 6">
              <a:extLst>
                <a:ext uri="{FF2B5EF4-FFF2-40B4-BE49-F238E27FC236}">
                  <a16:creationId xmlns:a16="http://schemas.microsoft.com/office/drawing/2014/main" id="{A2111EA5-E8D9-3D83-1726-82E7F7BD73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9858" y="3784599"/>
              <a:ext cx="2486660" cy="1130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2358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9AAEB-90D4-F5C1-C2CC-131F1977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9C31DF-7ADD-1471-7D8B-DB2130BF9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9275B3-64F0-62BC-C490-6D353492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EDCCB8-091B-D03C-6B85-88F078E5E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2D4BE-291A-2849-13A9-04BAC5ADE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4B6CCD-730F-646D-17C3-34F67C0F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33BEE-E21E-E451-3E7E-885F4B5D3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High-Level Process Diagram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335F35-4F49-98FB-ACFA-96CE02D27C47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6. Deployment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7433E0-16FF-2CC5-AB22-0F0EAEAB3B0F}"/>
              </a:ext>
            </a:extLst>
          </p:cNvPr>
          <p:cNvSpPr txBox="1"/>
          <p:nvPr/>
        </p:nvSpPr>
        <p:spPr>
          <a:xfrm>
            <a:off x="459354" y="4572741"/>
            <a:ext cx="117326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Verification acts as a </a:t>
            </a:r>
            <a:r>
              <a:rPr lang="en-US" sz="2400" b="1" dirty="0"/>
              <a:t>gate</a:t>
            </a:r>
            <a:r>
              <a:rPr lang="en-US" sz="2400" dirty="0"/>
              <a:t>, ​not just a diagnostic tool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Model needs to </a:t>
            </a:r>
            <a:r>
              <a:rPr lang="en-US" sz="2400" b="1" dirty="0"/>
              <a:t>learn to deal with "messy" data </a:t>
            </a:r>
            <a:r>
              <a:rPr lang="en-US" sz="2400" dirty="0"/>
              <a:t>(eg. context is not relevant to question, question is not answerable)​. Additional fine-tuning will be required.​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Validation can be done through </a:t>
            </a:r>
            <a:r>
              <a:rPr lang="en-US" sz="2400" b="1" dirty="0"/>
              <a:t>user ratings of AI responses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24DF20-14B5-D2CD-E0D8-FE2BFD4A4BCA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30</a:t>
            </a:r>
          </a:p>
        </p:txBody>
      </p:sp>
      <p:pic>
        <p:nvPicPr>
          <p:cNvPr id="2050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FE67E805-3D4C-D633-9F5B-267071823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60" b="20627"/>
          <a:stretch>
            <a:fillRect/>
          </a:stretch>
        </p:blipFill>
        <p:spPr bwMode="auto">
          <a:xfrm>
            <a:off x="1911120" y="1783885"/>
            <a:ext cx="7962221" cy="289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27B857-E8E3-9DA1-4A12-3C25B55864F9}"/>
              </a:ext>
            </a:extLst>
          </p:cNvPr>
          <p:cNvSpPr txBox="1"/>
          <p:nvPr/>
        </p:nvSpPr>
        <p:spPr>
          <a:xfrm>
            <a:off x="6792685" y="3526971"/>
            <a:ext cx="74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&lt;2%</a:t>
            </a:r>
          </a:p>
        </p:txBody>
      </p:sp>
    </p:spTree>
    <p:extLst>
      <p:ext uri="{BB962C8B-B14F-4D97-AF65-F5344CB8AC3E}">
        <p14:creationId xmlns:p14="http://schemas.microsoft.com/office/powerpoint/2010/main" val="2058312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32727-0EB3-8CBC-4D7F-2DFB6F31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DB3517-9C92-D4CF-B332-636943712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44200E-72F3-1BD8-34D3-79F00E48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4ADB3E-8608-E9D4-78A4-5C76E2518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147AA6-B13D-D49E-0B1E-C66E3FDB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3EABD6-228E-7921-86EE-B6146D60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AC7E8-4B07-444E-3194-88904B8F3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High-Level Process Diagram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AC0498-A41F-02AD-CEB2-F62F2CD5341C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7. Life Cycle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E8A70-CDF3-AFD6-8ADE-5FF4A20169B6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31</a:t>
            </a:r>
          </a:p>
        </p:txBody>
      </p:sp>
      <p:pic>
        <p:nvPicPr>
          <p:cNvPr id="3074" name="Picture 2" descr="A diagram of a cycle&#10;&#10;AI-generated content may be incorrect.">
            <a:extLst>
              <a:ext uri="{FF2B5EF4-FFF2-40B4-BE49-F238E27FC236}">
                <a16:creationId xmlns:a16="http://schemas.microsoft.com/office/drawing/2014/main" id="{3A0DBA0E-810A-2D58-CBDA-55C91C771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598" y="2027441"/>
            <a:ext cx="7924800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2497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A1FAC-AB1C-4B51-E0B4-C2C3667E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E532C8-B316-C7DE-7C4D-D319A40FC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C6190A-B3D4-5D9A-18A0-1390D7C97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AE43F5-D37A-FCF0-739C-A1DC89DC0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283050-1230-5CB9-83D5-7E2C50C29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006B22-4134-F61C-AF08-4B19DB547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CD2C-B0BE-2AAE-E67D-B77CDEE7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1" y="3271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F0421-C503-B12C-4BF2-4362D801C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51" y="1917937"/>
            <a:ext cx="9724031" cy="3683358"/>
          </a:xfrm>
        </p:spPr>
        <p:txBody>
          <a:bodyPr anchor="ctr">
            <a:normAutofit/>
          </a:bodyPr>
          <a:lstStyle/>
          <a:p>
            <a:pPr fontAlgn="base"/>
            <a:r>
              <a:rPr lang="en-US" dirty="0"/>
              <a:t>Testing</a:t>
            </a:r>
            <a:endParaRPr lang="en-US" sz="2000" b="0" i="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B1F21-BD92-D001-F3B1-8659DCEFB775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94224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0D620-94B5-1218-042A-7AE1BF50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E0235-1A53-2A29-62D5-A99CDF1E2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Appendix​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89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59D38-BF16-B50F-0324-8906A47F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86D8BC-72F4-387F-0D29-6102EAE2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978521-0DE4-6AE7-96C4-662F6477A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F2ACA9-42F1-4B2C-C55B-69D51DF87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08A84A-A60E-C5BA-16DE-D6685E73B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A7F6A8-A29E-037A-F8B0-79F7273C3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CF1CA-9442-8BB8-B4DE-5E491881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Context/ No-Context Breakdown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835CEA-6F37-E772-23EE-1031D181FC32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5779D1-B153-6768-B625-CBF4651527FF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49AF3-EB79-A386-15E4-0147EC919AB0}"/>
              </a:ext>
            </a:extLst>
          </p:cNvPr>
          <p:cNvSpPr txBox="1"/>
          <p:nvPr/>
        </p:nvSpPr>
        <p:spPr>
          <a:xfrm>
            <a:off x="459350" y="2104140"/>
            <a:ext cx="11221021" cy="482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Performance of fine-tuned DeBERTA-v3-large on test set: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B2DA654-E0BE-27ED-8540-847886860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587132"/>
              </p:ext>
            </p:extLst>
          </p:nvPr>
        </p:nvGraphicFramePr>
        <p:xfrm>
          <a:off x="459350" y="2853822"/>
          <a:ext cx="10491078" cy="1456682"/>
        </p:xfrm>
        <a:graphic>
          <a:graphicData uri="http://schemas.openxmlformats.org/drawingml/2006/table">
            <a:tbl>
              <a:tblPr/>
              <a:tblGrid>
                <a:gridCol w="5245539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5245539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</a:tblGrid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With Context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Without Context</a:t>
                      </a:r>
                      <a:endParaRPr lang="en-US" sz="2400" b="1" i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TO FILL IN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TO FILL IN</a:t>
                      </a:r>
                      <a:endParaRPr lang="en-US" sz="2400" b="0" i="0" baseline="3000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  <p:sp>
        <p:nvSpPr>
          <p:cNvPr id="11" name="Callout: Up Arrow 10">
            <a:extLst>
              <a:ext uri="{FF2B5EF4-FFF2-40B4-BE49-F238E27FC236}">
                <a16:creationId xmlns:a16="http://schemas.microsoft.com/office/drawing/2014/main" id="{758E0B41-E813-9554-C5D7-C5C137476303}"/>
              </a:ext>
            </a:extLst>
          </p:cNvPr>
          <p:cNvSpPr/>
          <p:nvPr/>
        </p:nvSpPr>
        <p:spPr>
          <a:xfrm>
            <a:off x="6259284" y="4503964"/>
            <a:ext cx="4351636" cy="1709057"/>
          </a:xfrm>
          <a:prstGeom prst="upArrowCallou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2BBA4A-EFED-FA50-0E1A-4CE9EA44E25F}"/>
              </a:ext>
            </a:extLst>
          </p:cNvPr>
          <p:cNvSpPr txBox="1"/>
          <p:nvPr/>
        </p:nvSpPr>
        <p:spPr>
          <a:xfrm>
            <a:off x="6795366" y="5225043"/>
            <a:ext cx="3227774" cy="888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2400" dirty="0"/>
              <a:t>Context retrieval from an external source</a:t>
            </a:r>
          </a:p>
        </p:txBody>
      </p:sp>
    </p:spTree>
    <p:extLst>
      <p:ext uri="{BB962C8B-B14F-4D97-AF65-F5344CB8AC3E}">
        <p14:creationId xmlns:p14="http://schemas.microsoft.com/office/powerpoint/2010/main" val="1381641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25482-C83F-7BB7-BDF2-FB6A7CC2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D6DF3C-A13D-06C1-D6BD-B42412F7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60DD52-BB2C-8638-AC6D-8B331A0B8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BD0FD6-319E-ACC0-A9C4-5219CBA6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B89BBA-CF96-2BE1-8482-804542FB0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22BF5F-F263-0D94-0BF2-DB1E36939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C1E90-6FF4-6431-4EA4-C54FDB7A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1" y="3271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LLM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72F19-3499-EF22-08CA-0D3D44FCE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51" y="1917937"/>
            <a:ext cx="9724031" cy="3683358"/>
          </a:xfrm>
        </p:spPr>
        <p:txBody>
          <a:bodyPr anchor="ctr">
            <a:normAutofit/>
          </a:bodyPr>
          <a:lstStyle/>
          <a:p>
            <a:pPr fontAlgn="base"/>
            <a:r>
              <a:rPr lang="en-US" dirty="0"/>
              <a:t>Testing</a:t>
            </a:r>
            <a:endParaRPr lang="en-US" sz="2000" b="0" i="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3BC0F-EF7C-8EF0-B70F-9A1DB803702B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1415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2735</TotalTime>
  <Words>1288</Words>
  <Application>Microsoft Office PowerPoint</Application>
  <PresentationFormat>Widescreen</PresentationFormat>
  <Paragraphs>293</Paragraphs>
  <Slides>35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Building Trust in Educational AI through Factuality Verification​</vt:lpstr>
      <vt:lpstr>Agenda</vt:lpstr>
      <vt:lpstr>Business Problem</vt:lpstr>
      <vt:lpstr>Stakeholder Analysis</vt:lpstr>
      <vt:lpstr>Problem Formulation</vt:lpstr>
      <vt:lpstr>Analytics Problem</vt:lpstr>
      <vt:lpstr>Metrics and Goals</vt:lpstr>
      <vt:lpstr>Overview of Data</vt:lpstr>
      <vt:lpstr>Length-Based Analysis</vt:lpstr>
      <vt:lpstr>Train-Test Drift</vt:lpstr>
      <vt:lpstr>Context Adequacy</vt:lpstr>
      <vt:lpstr>Initial Approach</vt:lpstr>
      <vt:lpstr>Results from EmbeddingGemma[] Model</vt:lpstr>
      <vt:lpstr>Explanation of Results</vt:lpstr>
      <vt:lpstr>Explanation of Results</vt:lpstr>
      <vt:lpstr>Reframing the Analytics Problem</vt:lpstr>
      <vt:lpstr>Final Approach</vt:lpstr>
      <vt:lpstr>Data with No Context</vt:lpstr>
      <vt:lpstr>Final Pipeline</vt:lpstr>
      <vt:lpstr>MNLI Model</vt:lpstr>
      <vt:lpstr>MNLI Model Selection</vt:lpstr>
      <vt:lpstr>Context Augmentation with SERPAPI</vt:lpstr>
      <vt:lpstr>Large Language Model</vt:lpstr>
      <vt:lpstr>LLM Selection</vt:lpstr>
      <vt:lpstr>Ensemble</vt:lpstr>
      <vt:lpstr>Confusion Matrices</vt:lpstr>
      <vt:lpstr>Ensemble Approach</vt:lpstr>
      <vt:lpstr>Final Results</vt:lpstr>
      <vt:lpstr>Overview of AI Services Used</vt:lpstr>
      <vt:lpstr>High-Level Process Diagram</vt:lpstr>
      <vt:lpstr>High-Level Process Diagram</vt:lpstr>
      <vt:lpstr>References</vt:lpstr>
      <vt:lpstr>Appendix​</vt:lpstr>
      <vt:lpstr>Context/ No-Context Breakdown</vt:lpstr>
      <vt:lpstr>LLM Prompts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Alagu</dc:creator>
  <cp:lastModifiedBy>Deepak Alagu</cp:lastModifiedBy>
  <cp:revision>8</cp:revision>
  <dcterms:created xsi:type="dcterms:W3CDTF">2026-02-01T19:25:15Z</dcterms:created>
  <dcterms:modified xsi:type="dcterms:W3CDTF">2026-02-04T06:20:09Z</dcterms:modified>
</cp:coreProperties>
</file>